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A7CFB-F31F-4F71-A39C-12C6AAB9D9A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517934-DCA9-47A6-A96F-1BC1C0E8BF73}">
      <dgm:prSet/>
      <dgm:spPr/>
      <dgm:t>
        <a:bodyPr/>
        <a:lstStyle/>
        <a:p>
          <a:r>
            <a:rPr lang="en-US" i="0" baseline="0"/>
            <a:t>Preprocessing</a:t>
          </a:r>
          <a:endParaRPr lang="en-US"/>
        </a:p>
      </dgm:t>
    </dgm:pt>
    <dgm:pt modelId="{299CD01E-CA89-4C60-A8D0-38FEC2091990}" type="parTrans" cxnId="{5A173A02-D66C-4ACC-820D-B770B1B81EFE}">
      <dgm:prSet/>
      <dgm:spPr/>
      <dgm:t>
        <a:bodyPr/>
        <a:lstStyle/>
        <a:p>
          <a:endParaRPr lang="en-US"/>
        </a:p>
      </dgm:t>
    </dgm:pt>
    <dgm:pt modelId="{56276869-B1C8-43BD-BAFC-E262060606F5}" type="sibTrans" cxnId="{5A173A02-D66C-4ACC-820D-B770B1B81EFE}">
      <dgm:prSet/>
      <dgm:spPr/>
      <dgm:t>
        <a:bodyPr/>
        <a:lstStyle/>
        <a:p>
          <a:endParaRPr lang="en-US"/>
        </a:p>
      </dgm:t>
    </dgm:pt>
    <dgm:pt modelId="{D4F908D7-2AFD-4525-83D3-BDAC94D3062C}">
      <dgm:prSet/>
      <dgm:spPr/>
      <dgm:t>
        <a:bodyPr/>
        <a:lstStyle/>
        <a:p>
          <a:r>
            <a:rPr lang="en-US" i="0" baseline="0"/>
            <a:t>Data Splitting: Creates training and test sets.</a:t>
          </a:r>
          <a:endParaRPr lang="en-US"/>
        </a:p>
      </dgm:t>
    </dgm:pt>
    <dgm:pt modelId="{F94AD8D8-F242-4260-9737-9F8119C693BA}" type="parTrans" cxnId="{EE3AD6FD-8DFB-4FB5-8DD2-768CB577F337}">
      <dgm:prSet/>
      <dgm:spPr/>
      <dgm:t>
        <a:bodyPr/>
        <a:lstStyle/>
        <a:p>
          <a:endParaRPr lang="en-US"/>
        </a:p>
      </dgm:t>
    </dgm:pt>
    <dgm:pt modelId="{731FADE3-217B-40D4-B0C8-3E7FA2E0CDF9}" type="sibTrans" cxnId="{EE3AD6FD-8DFB-4FB5-8DD2-768CB577F337}">
      <dgm:prSet/>
      <dgm:spPr/>
      <dgm:t>
        <a:bodyPr/>
        <a:lstStyle/>
        <a:p>
          <a:endParaRPr lang="en-US"/>
        </a:p>
      </dgm:t>
    </dgm:pt>
    <dgm:pt modelId="{0E48D7D9-FCD8-43D9-BB08-EF59DEDD8B3B}">
      <dgm:prSet/>
      <dgm:spPr/>
      <dgm:t>
        <a:bodyPr/>
        <a:lstStyle/>
        <a:p>
          <a:r>
            <a:rPr lang="en-US" i="0" baseline="0" dirty="0"/>
            <a:t>Model Training: Random Forest, XG Boost</a:t>
          </a:r>
          <a:r>
            <a:rPr lang="en-US" dirty="0"/>
            <a:t>, </a:t>
          </a:r>
          <a:r>
            <a:rPr lang="en-US" i="0" baseline="0" dirty="0"/>
            <a:t>Linear Regression</a:t>
          </a:r>
          <a:endParaRPr lang="en-US" dirty="0"/>
        </a:p>
      </dgm:t>
    </dgm:pt>
    <dgm:pt modelId="{8482E8AD-515C-4DBB-8192-747C5273DED5}" type="parTrans" cxnId="{82369709-DDAB-4DAE-B8CB-236CE0A42A68}">
      <dgm:prSet/>
      <dgm:spPr/>
      <dgm:t>
        <a:bodyPr/>
        <a:lstStyle/>
        <a:p>
          <a:endParaRPr lang="en-US"/>
        </a:p>
      </dgm:t>
    </dgm:pt>
    <dgm:pt modelId="{6B210C14-3492-48F3-A46B-9E3B6EBEFB3E}" type="sibTrans" cxnId="{82369709-DDAB-4DAE-B8CB-236CE0A42A68}">
      <dgm:prSet/>
      <dgm:spPr/>
      <dgm:t>
        <a:bodyPr/>
        <a:lstStyle/>
        <a:p>
          <a:endParaRPr lang="en-US"/>
        </a:p>
      </dgm:t>
    </dgm:pt>
    <dgm:pt modelId="{01B95BC2-DA5F-4B4B-B434-7F6CEB874FD8}">
      <dgm:prSet/>
      <dgm:spPr/>
      <dgm:t>
        <a:bodyPr/>
        <a:lstStyle/>
        <a:p>
          <a:r>
            <a:rPr lang="en-US" i="0" baseline="0"/>
            <a:t>Model Evaluation: Mean Squared Error (MSE), R-squared score</a:t>
          </a:r>
          <a:endParaRPr lang="en-US"/>
        </a:p>
      </dgm:t>
    </dgm:pt>
    <dgm:pt modelId="{D699D687-C2D4-4D58-A6C0-BD3886CD5B73}" type="parTrans" cxnId="{97518A08-2956-471D-9581-84DF1E123876}">
      <dgm:prSet/>
      <dgm:spPr/>
      <dgm:t>
        <a:bodyPr/>
        <a:lstStyle/>
        <a:p>
          <a:endParaRPr lang="en-US"/>
        </a:p>
      </dgm:t>
    </dgm:pt>
    <dgm:pt modelId="{3A564845-96EA-474B-8B8E-27FA507072E2}" type="sibTrans" cxnId="{97518A08-2956-471D-9581-84DF1E123876}">
      <dgm:prSet/>
      <dgm:spPr/>
      <dgm:t>
        <a:bodyPr/>
        <a:lstStyle/>
        <a:p>
          <a:endParaRPr lang="en-US"/>
        </a:p>
      </dgm:t>
    </dgm:pt>
    <dgm:pt modelId="{4D6D49AD-AA96-4066-9574-2ACAD8286972}" type="pres">
      <dgm:prSet presAssocID="{E7CA7CFB-F31F-4F71-A39C-12C6AAB9D9AB}" presName="linear" presStyleCnt="0">
        <dgm:presLayoutVars>
          <dgm:animLvl val="lvl"/>
          <dgm:resizeHandles val="exact"/>
        </dgm:presLayoutVars>
      </dgm:prSet>
      <dgm:spPr/>
    </dgm:pt>
    <dgm:pt modelId="{DDCC0FAA-8E2C-4305-A9FA-C3A2B214EB7A}" type="pres">
      <dgm:prSet presAssocID="{6B517934-DCA9-47A6-A96F-1BC1C0E8BF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3E7414D-1F51-459F-9578-4B428CF56F0F}" type="pres">
      <dgm:prSet presAssocID="{56276869-B1C8-43BD-BAFC-E262060606F5}" presName="spacer" presStyleCnt="0"/>
      <dgm:spPr/>
    </dgm:pt>
    <dgm:pt modelId="{113518F7-D7E5-466E-945D-D0B28036E38A}" type="pres">
      <dgm:prSet presAssocID="{D4F908D7-2AFD-4525-83D3-BDAC94D306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4423F8-6464-4D4E-9019-D4364199A9CB}" type="pres">
      <dgm:prSet presAssocID="{731FADE3-217B-40D4-B0C8-3E7FA2E0CDF9}" presName="spacer" presStyleCnt="0"/>
      <dgm:spPr/>
    </dgm:pt>
    <dgm:pt modelId="{84C84629-74B8-4261-93FE-C55A28A48EB7}" type="pres">
      <dgm:prSet presAssocID="{0E48D7D9-FCD8-43D9-BB08-EF59DEDD8B3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9E75BE8-EF2B-4FFA-9EA0-532C4651A252}" type="pres">
      <dgm:prSet presAssocID="{6B210C14-3492-48F3-A46B-9E3B6EBEFB3E}" presName="spacer" presStyleCnt="0"/>
      <dgm:spPr/>
    </dgm:pt>
    <dgm:pt modelId="{B79DE938-82E7-4373-867C-135B3A970935}" type="pres">
      <dgm:prSet presAssocID="{01B95BC2-DA5F-4B4B-B434-7F6CEB874FD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A173A02-D66C-4ACC-820D-B770B1B81EFE}" srcId="{E7CA7CFB-F31F-4F71-A39C-12C6AAB9D9AB}" destId="{6B517934-DCA9-47A6-A96F-1BC1C0E8BF73}" srcOrd="0" destOrd="0" parTransId="{299CD01E-CA89-4C60-A8D0-38FEC2091990}" sibTransId="{56276869-B1C8-43BD-BAFC-E262060606F5}"/>
    <dgm:cxn modelId="{97518A08-2956-471D-9581-84DF1E123876}" srcId="{E7CA7CFB-F31F-4F71-A39C-12C6AAB9D9AB}" destId="{01B95BC2-DA5F-4B4B-B434-7F6CEB874FD8}" srcOrd="3" destOrd="0" parTransId="{D699D687-C2D4-4D58-A6C0-BD3886CD5B73}" sibTransId="{3A564845-96EA-474B-8B8E-27FA507072E2}"/>
    <dgm:cxn modelId="{82369709-DDAB-4DAE-B8CB-236CE0A42A68}" srcId="{E7CA7CFB-F31F-4F71-A39C-12C6AAB9D9AB}" destId="{0E48D7D9-FCD8-43D9-BB08-EF59DEDD8B3B}" srcOrd="2" destOrd="0" parTransId="{8482E8AD-515C-4DBB-8192-747C5273DED5}" sibTransId="{6B210C14-3492-48F3-A46B-9E3B6EBEFB3E}"/>
    <dgm:cxn modelId="{20CC754C-40D6-4965-B7E0-E3B942045D23}" type="presOf" srcId="{D4F908D7-2AFD-4525-83D3-BDAC94D3062C}" destId="{113518F7-D7E5-466E-945D-D0B28036E38A}" srcOrd="0" destOrd="0" presId="urn:microsoft.com/office/officeart/2005/8/layout/vList2"/>
    <dgm:cxn modelId="{C9D72588-F6D5-44D5-97D6-568FBDE62662}" type="presOf" srcId="{E7CA7CFB-F31F-4F71-A39C-12C6AAB9D9AB}" destId="{4D6D49AD-AA96-4066-9574-2ACAD8286972}" srcOrd="0" destOrd="0" presId="urn:microsoft.com/office/officeart/2005/8/layout/vList2"/>
    <dgm:cxn modelId="{35DFF997-DE46-4AB2-ADE2-A1E0C8764923}" type="presOf" srcId="{6B517934-DCA9-47A6-A96F-1BC1C0E8BF73}" destId="{DDCC0FAA-8E2C-4305-A9FA-C3A2B214EB7A}" srcOrd="0" destOrd="0" presId="urn:microsoft.com/office/officeart/2005/8/layout/vList2"/>
    <dgm:cxn modelId="{F0DDF0B6-0CF5-4070-8AE1-9B108CF50BB7}" type="presOf" srcId="{01B95BC2-DA5F-4B4B-B434-7F6CEB874FD8}" destId="{B79DE938-82E7-4373-867C-135B3A970935}" srcOrd="0" destOrd="0" presId="urn:microsoft.com/office/officeart/2005/8/layout/vList2"/>
    <dgm:cxn modelId="{F36239CE-6F4A-4C7A-8727-2D23A245326F}" type="presOf" srcId="{0E48D7D9-FCD8-43D9-BB08-EF59DEDD8B3B}" destId="{84C84629-74B8-4261-93FE-C55A28A48EB7}" srcOrd="0" destOrd="0" presId="urn:microsoft.com/office/officeart/2005/8/layout/vList2"/>
    <dgm:cxn modelId="{EE3AD6FD-8DFB-4FB5-8DD2-768CB577F337}" srcId="{E7CA7CFB-F31F-4F71-A39C-12C6AAB9D9AB}" destId="{D4F908D7-2AFD-4525-83D3-BDAC94D3062C}" srcOrd="1" destOrd="0" parTransId="{F94AD8D8-F242-4260-9737-9F8119C693BA}" sibTransId="{731FADE3-217B-40D4-B0C8-3E7FA2E0CDF9}"/>
    <dgm:cxn modelId="{929D0FC3-E330-462D-BD40-3668254714DC}" type="presParOf" srcId="{4D6D49AD-AA96-4066-9574-2ACAD8286972}" destId="{DDCC0FAA-8E2C-4305-A9FA-C3A2B214EB7A}" srcOrd="0" destOrd="0" presId="urn:microsoft.com/office/officeart/2005/8/layout/vList2"/>
    <dgm:cxn modelId="{4E8AE9FE-978C-4F71-A9AE-465013D6BC40}" type="presParOf" srcId="{4D6D49AD-AA96-4066-9574-2ACAD8286972}" destId="{03E7414D-1F51-459F-9578-4B428CF56F0F}" srcOrd="1" destOrd="0" presId="urn:microsoft.com/office/officeart/2005/8/layout/vList2"/>
    <dgm:cxn modelId="{B07938AB-7A40-4A4B-A406-8079CDF2710A}" type="presParOf" srcId="{4D6D49AD-AA96-4066-9574-2ACAD8286972}" destId="{113518F7-D7E5-466E-945D-D0B28036E38A}" srcOrd="2" destOrd="0" presId="urn:microsoft.com/office/officeart/2005/8/layout/vList2"/>
    <dgm:cxn modelId="{B3C92C53-137F-41FF-ABB3-E4800DE119EB}" type="presParOf" srcId="{4D6D49AD-AA96-4066-9574-2ACAD8286972}" destId="{294423F8-6464-4D4E-9019-D4364199A9CB}" srcOrd="3" destOrd="0" presId="urn:microsoft.com/office/officeart/2005/8/layout/vList2"/>
    <dgm:cxn modelId="{6C3B851B-F4FC-4590-9E15-B08016D4BB76}" type="presParOf" srcId="{4D6D49AD-AA96-4066-9574-2ACAD8286972}" destId="{84C84629-74B8-4261-93FE-C55A28A48EB7}" srcOrd="4" destOrd="0" presId="urn:microsoft.com/office/officeart/2005/8/layout/vList2"/>
    <dgm:cxn modelId="{38DF3757-4FFF-466E-ACDB-B4F88877B60C}" type="presParOf" srcId="{4D6D49AD-AA96-4066-9574-2ACAD8286972}" destId="{89E75BE8-EF2B-4FFA-9EA0-532C4651A252}" srcOrd="5" destOrd="0" presId="urn:microsoft.com/office/officeart/2005/8/layout/vList2"/>
    <dgm:cxn modelId="{B9AD949D-042B-4805-8D36-2DA3389E4481}" type="presParOf" srcId="{4D6D49AD-AA96-4066-9574-2ACAD8286972}" destId="{B79DE938-82E7-4373-867C-135B3A97093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77A576-7646-4E1A-9669-878D7B4B71E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3496B7-ECA8-4B6B-A4B3-BF7C691C0FDF}">
      <dgm:prSet/>
      <dgm:spPr/>
      <dgm:t>
        <a:bodyPr/>
        <a:lstStyle/>
        <a:p>
          <a:r>
            <a:rPr lang="en-US" b="0" i="0"/>
            <a:t>Kaggle (Cause of Deaths around the World). </a:t>
          </a:r>
          <a:endParaRPr lang="en-US"/>
        </a:p>
      </dgm:t>
    </dgm:pt>
    <dgm:pt modelId="{4BC4C566-C6E7-4007-BE52-34014B2843E3}" type="parTrans" cxnId="{520EAFBD-16F1-4DE7-87EA-AF5AC50562C7}">
      <dgm:prSet/>
      <dgm:spPr/>
      <dgm:t>
        <a:bodyPr/>
        <a:lstStyle/>
        <a:p>
          <a:endParaRPr lang="en-US"/>
        </a:p>
      </dgm:t>
    </dgm:pt>
    <dgm:pt modelId="{2FA4444A-EBFF-42B1-86E6-0204775D1DEA}" type="sibTrans" cxnId="{520EAFBD-16F1-4DE7-87EA-AF5AC50562C7}">
      <dgm:prSet/>
      <dgm:spPr/>
      <dgm:t>
        <a:bodyPr/>
        <a:lstStyle/>
        <a:p>
          <a:endParaRPr lang="en-US"/>
        </a:p>
      </dgm:t>
    </dgm:pt>
    <dgm:pt modelId="{5EFA472D-0E0F-4711-9DD5-142E3871A8EB}">
      <dgm:prSet/>
      <dgm:spPr/>
      <dgm:t>
        <a:bodyPr/>
        <a:lstStyle/>
        <a:p>
          <a:r>
            <a:rPr lang="en-US" b="0" i="0"/>
            <a:t>34 attributes with 6121 instances</a:t>
          </a:r>
          <a:endParaRPr lang="en-US"/>
        </a:p>
      </dgm:t>
    </dgm:pt>
    <dgm:pt modelId="{6FEF3917-D9CA-4825-AA6E-AA10E6C0FB12}" type="parTrans" cxnId="{46F80266-E59B-489C-9FF9-A60281687DE2}">
      <dgm:prSet/>
      <dgm:spPr/>
      <dgm:t>
        <a:bodyPr/>
        <a:lstStyle/>
        <a:p>
          <a:endParaRPr lang="en-US"/>
        </a:p>
      </dgm:t>
    </dgm:pt>
    <dgm:pt modelId="{D2C80908-E57A-4159-8639-88D7ACEEED80}" type="sibTrans" cxnId="{46F80266-E59B-489C-9FF9-A60281687DE2}">
      <dgm:prSet/>
      <dgm:spPr/>
      <dgm:t>
        <a:bodyPr/>
        <a:lstStyle/>
        <a:p>
          <a:endParaRPr lang="en-US"/>
        </a:p>
      </dgm:t>
    </dgm:pt>
    <dgm:pt modelId="{81F1439B-B474-4314-A34B-79CCF06A229A}" type="pres">
      <dgm:prSet presAssocID="{9777A576-7646-4E1A-9669-878D7B4B71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4B5E0B9-AE56-4A12-9FDF-7E55C711E4B9}" type="pres">
      <dgm:prSet presAssocID="{F43496B7-ECA8-4B6B-A4B3-BF7C691C0FDF}" presName="hierRoot1" presStyleCnt="0"/>
      <dgm:spPr/>
    </dgm:pt>
    <dgm:pt modelId="{E5AE5C00-4D68-4A5F-8B4E-5FDDA5113C8B}" type="pres">
      <dgm:prSet presAssocID="{F43496B7-ECA8-4B6B-A4B3-BF7C691C0FDF}" presName="composite" presStyleCnt="0"/>
      <dgm:spPr/>
    </dgm:pt>
    <dgm:pt modelId="{CA7A9B36-81F3-4FB8-82D5-5E3DA75E7E11}" type="pres">
      <dgm:prSet presAssocID="{F43496B7-ECA8-4B6B-A4B3-BF7C691C0FDF}" presName="background" presStyleLbl="node0" presStyleIdx="0" presStyleCnt="2"/>
      <dgm:spPr/>
    </dgm:pt>
    <dgm:pt modelId="{863C2988-C5BE-4868-B95C-BE73AC0D61D8}" type="pres">
      <dgm:prSet presAssocID="{F43496B7-ECA8-4B6B-A4B3-BF7C691C0FDF}" presName="text" presStyleLbl="fgAcc0" presStyleIdx="0" presStyleCnt="2">
        <dgm:presLayoutVars>
          <dgm:chPref val="3"/>
        </dgm:presLayoutVars>
      </dgm:prSet>
      <dgm:spPr/>
    </dgm:pt>
    <dgm:pt modelId="{833F8D35-DB85-4C26-85C4-19F38870A572}" type="pres">
      <dgm:prSet presAssocID="{F43496B7-ECA8-4B6B-A4B3-BF7C691C0FDF}" presName="hierChild2" presStyleCnt="0"/>
      <dgm:spPr/>
    </dgm:pt>
    <dgm:pt modelId="{18DEECD3-D191-4924-9C0E-F9B20AEF00CC}" type="pres">
      <dgm:prSet presAssocID="{5EFA472D-0E0F-4711-9DD5-142E3871A8EB}" presName="hierRoot1" presStyleCnt="0"/>
      <dgm:spPr/>
    </dgm:pt>
    <dgm:pt modelId="{1A6E606E-2F1F-4C53-A393-6EBBE5B7BD0A}" type="pres">
      <dgm:prSet presAssocID="{5EFA472D-0E0F-4711-9DD5-142E3871A8EB}" presName="composite" presStyleCnt="0"/>
      <dgm:spPr/>
    </dgm:pt>
    <dgm:pt modelId="{EC09BE58-20C0-42A5-A54B-F904A2816CB8}" type="pres">
      <dgm:prSet presAssocID="{5EFA472D-0E0F-4711-9DD5-142E3871A8EB}" presName="background" presStyleLbl="node0" presStyleIdx="1" presStyleCnt="2"/>
      <dgm:spPr/>
    </dgm:pt>
    <dgm:pt modelId="{9AD309B3-9370-4553-B398-A4EA598D098A}" type="pres">
      <dgm:prSet presAssocID="{5EFA472D-0E0F-4711-9DD5-142E3871A8EB}" presName="text" presStyleLbl="fgAcc0" presStyleIdx="1" presStyleCnt="2">
        <dgm:presLayoutVars>
          <dgm:chPref val="3"/>
        </dgm:presLayoutVars>
      </dgm:prSet>
      <dgm:spPr/>
    </dgm:pt>
    <dgm:pt modelId="{0B226B7D-0F0B-4CCC-B32D-FA3214110010}" type="pres">
      <dgm:prSet presAssocID="{5EFA472D-0E0F-4711-9DD5-142E3871A8EB}" presName="hierChild2" presStyleCnt="0"/>
      <dgm:spPr/>
    </dgm:pt>
  </dgm:ptLst>
  <dgm:cxnLst>
    <dgm:cxn modelId="{46F80266-E59B-489C-9FF9-A60281687DE2}" srcId="{9777A576-7646-4E1A-9669-878D7B4B71E0}" destId="{5EFA472D-0E0F-4711-9DD5-142E3871A8EB}" srcOrd="1" destOrd="0" parTransId="{6FEF3917-D9CA-4825-AA6E-AA10E6C0FB12}" sibTransId="{D2C80908-E57A-4159-8639-88D7ACEEED80}"/>
    <dgm:cxn modelId="{1CA5157D-08AB-4007-BFB2-4815FE4C50EE}" type="presOf" srcId="{F43496B7-ECA8-4B6B-A4B3-BF7C691C0FDF}" destId="{863C2988-C5BE-4868-B95C-BE73AC0D61D8}" srcOrd="0" destOrd="0" presId="urn:microsoft.com/office/officeart/2005/8/layout/hierarchy1"/>
    <dgm:cxn modelId="{520EAFBD-16F1-4DE7-87EA-AF5AC50562C7}" srcId="{9777A576-7646-4E1A-9669-878D7B4B71E0}" destId="{F43496B7-ECA8-4B6B-A4B3-BF7C691C0FDF}" srcOrd="0" destOrd="0" parTransId="{4BC4C566-C6E7-4007-BE52-34014B2843E3}" sibTransId="{2FA4444A-EBFF-42B1-86E6-0204775D1DEA}"/>
    <dgm:cxn modelId="{406242D6-8046-4F84-A9D0-25A3BDEDD840}" type="presOf" srcId="{5EFA472D-0E0F-4711-9DD5-142E3871A8EB}" destId="{9AD309B3-9370-4553-B398-A4EA598D098A}" srcOrd="0" destOrd="0" presId="urn:microsoft.com/office/officeart/2005/8/layout/hierarchy1"/>
    <dgm:cxn modelId="{F1A1ACFF-E9B4-4E3C-B13F-1EF60337DD93}" type="presOf" srcId="{9777A576-7646-4E1A-9669-878D7B4B71E0}" destId="{81F1439B-B474-4314-A34B-79CCF06A229A}" srcOrd="0" destOrd="0" presId="urn:microsoft.com/office/officeart/2005/8/layout/hierarchy1"/>
    <dgm:cxn modelId="{329B391F-298A-45C5-A5DE-DC9D713771B5}" type="presParOf" srcId="{81F1439B-B474-4314-A34B-79CCF06A229A}" destId="{24B5E0B9-AE56-4A12-9FDF-7E55C711E4B9}" srcOrd="0" destOrd="0" presId="urn:microsoft.com/office/officeart/2005/8/layout/hierarchy1"/>
    <dgm:cxn modelId="{F3CFFBAD-D2F7-4525-BD8A-3C065567FA2D}" type="presParOf" srcId="{24B5E0B9-AE56-4A12-9FDF-7E55C711E4B9}" destId="{E5AE5C00-4D68-4A5F-8B4E-5FDDA5113C8B}" srcOrd="0" destOrd="0" presId="urn:microsoft.com/office/officeart/2005/8/layout/hierarchy1"/>
    <dgm:cxn modelId="{61110FC3-9582-45C9-8594-72CD6B3A9892}" type="presParOf" srcId="{E5AE5C00-4D68-4A5F-8B4E-5FDDA5113C8B}" destId="{CA7A9B36-81F3-4FB8-82D5-5E3DA75E7E11}" srcOrd="0" destOrd="0" presId="urn:microsoft.com/office/officeart/2005/8/layout/hierarchy1"/>
    <dgm:cxn modelId="{F1200298-5EE2-464A-BE2A-2FEF2DE65B4A}" type="presParOf" srcId="{E5AE5C00-4D68-4A5F-8B4E-5FDDA5113C8B}" destId="{863C2988-C5BE-4868-B95C-BE73AC0D61D8}" srcOrd="1" destOrd="0" presId="urn:microsoft.com/office/officeart/2005/8/layout/hierarchy1"/>
    <dgm:cxn modelId="{3FE4B5FB-DDD4-453A-A204-9153850EC90A}" type="presParOf" srcId="{24B5E0B9-AE56-4A12-9FDF-7E55C711E4B9}" destId="{833F8D35-DB85-4C26-85C4-19F38870A572}" srcOrd="1" destOrd="0" presId="urn:microsoft.com/office/officeart/2005/8/layout/hierarchy1"/>
    <dgm:cxn modelId="{450C4673-B9B9-41EC-A72E-0ADB03B5424E}" type="presParOf" srcId="{81F1439B-B474-4314-A34B-79CCF06A229A}" destId="{18DEECD3-D191-4924-9C0E-F9B20AEF00CC}" srcOrd="1" destOrd="0" presId="urn:microsoft.com/office/officeart/2005/8/layout/hierarchy1"/>
    <dgm:cxn modelId="{7AE46F99-4C63-4E88-8018-A280D1AD51CA}" type="presParOf" srcId="{18DEECD3-D191-4924-9C0E-F9B20AEF00CC}" destId="{1A6E606E-2F1F-4C53-A393-6EBBE5B7BD0A}" srcOrd="0" destOrd="0" presId="urn:microsoft.com/office/officeart/2005/8/layout/hierarchy1"/>
    <dgm:cxn modelId="{64588F65-B660-41F7-A6B9-06854F9519DE}" type="presParOf" srcId="{1A6E606E-2F1F-4C53-A393-6EBBE5B7BD0A}" destId="{EC09BE58-20C0-42A5-A54B-F904A2816CB8}" srcOrd="0" destOrd="0" presId="urn:microsoft.com/office/officeart/2005/8/layout/hierarchy1"/>
    <dgm:cxn modelId="{3E3D70E6-42A8-409C-901E-749ACC643926}" type="presParOf" srcId="{1A6E606E-2F1F-4C53-A393-6EBBE5B7BD0A}" destId="{9AD309B3-9370-4553-B398-A4EA598D098A}" srcOrd="1" destOrd="0" presId="urn:microsoft.com/office/officeart/2005/8/layout/hierarchy1"/>
    <dgm:cxn modelId="{B5AE45BD-A06F-4ECD-82C2-AAA45565FB57}" type="presParOf" srcId="{18DEECD3-D191-4924-9C0E-F9B20AEF00CC}" destId="{0B226B7D-0F0B-4CCC-B32D-FA321411001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CC0FAA-8E2C-4305-A9FA-C3A2B214EB7A}">
      <dsp:nvSpPr>
        <dsp:cNvPr id="0" name=""/>
        <dsp:cNvSpPr/>
      </dsp:nvSpPr>
      <dsp:spPr>
        <a:xfrm>
          <a:off x="0" y="33439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baseline="0"/>
            <a:t>Preprocessing</a:t>
          </a:r>
          <a:endParaRPr lang="en-US" sz="3200" kern="1200"/>
        </a:p>
      </dsp:txBody>
      <dsp:txXfrm>
        <a:off x="62369" y="95808"/>
        <a:ext cx="6542095" cy="1152902"/>
      </dsp:txXfrm>
    </dsp:sp>
    <dsp:sp modelId="{113518F7-D7E5-466E-945D-D0B28036E38A}">
      <dsp:nvSpPr>
        <dsp:cNvPr id="0" name=""/>
        <dsp:cNvSpPr/>
      </dsp:nvSpPr>
      <dsp:spPr>
        <a:xfrm>
          <a:off x="0" y="1403239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baseline="0"/>
            <a:t>Data Splitting: Creates training and test sets.</a:t>
          </a:r>
          <a:endParaRPr lang="en-US" sz="3200" kern="1200"/>
        </a:p>
      </dsp:txBody>
      <dsp:txXfrm>
        <a:off x="62369" y="1465608"/>
        <a:ext cx="6542095" cy="1152902"/>
      </dsp:txXfrm>
    </dsp:sp>
    <dsp:sp modelId="{84C84629-74B8-4261-93FE-C55A28A48EB7}">
      <dsp:nvSpPr>
        <dsp:cNvPr id="0" name=""/>
        <dsp:cNvSpPr/>
      </dsp:nvSpPr>
      <dsp:spPr>
        <a:xfrm>
          <a:off x="0" y="2773040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baseline="0" dirty="0"/>
            <a:t>Model Training: Random Forest, XG Boost</a:t>
          </a:r>
          <a:r>
            <a:rPr lang="en-US" sz="3200" kern="1200" dirty="0"/>
            <a:t>, </a:t>
          </a:r>
          <a:r>
            <a:rPr lang="en-US" sz="3200" i="0" kern="1200" baseline="0" dirty="0"/>
            <a:t>Linear Regression</a:t>
          </a:r>
          <a:endParaRPr lang="en-US" sz="3200" kern="1200" dirty="0"/>
        </a:p>
      </dsp:txBody>
      <dsp:txXfrm>
        <a:off x="62369" y="2835409"/>
        <a:ext cx="6542095" cy="1152902"/>
      </dsp:txXfrm>
    </dsp:sp>
    <dsp:sp modelId="{B79DE938-82E7-4373-867C-135B3A970935}">
      <dsp:nvSpPr>
        <dsp:cNvPr id="0" name=""/>
        <dsp:cNvSpPr/>
      </dsp:nvSpPr>
      <dsp:spPr>
        <a:xfrm>
          <a:off x="0" y="4142840"/>
          <a:ext cx="6666833" cy="127764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0" kern="1200" baseline="0"/>
            <a:t>Model Evaluation: Mean Squared Error (MSE), R-squared score</a:t>
          </a:r>
          <a:endParaRPr lang="en-US" sz="3200" kern="1200"/>
        </a:p>
      </dsp:txBody>
      <dsp:txXfrm>
        <a:off x="62369" y="4205209"/>
        <a:ext cx="6542095" cy="11529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7A9B36-81F3-4FB8-82D5-5E3DA75E7E11}">
      <dsp:nvSpPr>
        <dsp:cNvPr id="0" name=""/>
        <dsp:cNvSpPr/>
      </dsp:nvSpPr>
      <dsp:spPr>
        <a:xfrm>
          <a:off x="800" y="1733006"/>
          <a:ext cx="2808748" cy="178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3C2988-C5BE-4868-B95C-BE73AC0D61D8}">
      <dsp:nvSpPr>
        <dsp:cNvPr id="0" name=""/>
        <dsp:cNvSpPr/>
      </dsp:nvSpPr>
      <dsp:spPr>
        <a:xfrm>
          <a:off x="312883" y="2029485"/>
          <a:ext cx="2808748" cy="17835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Kaggle (Cause of Deaths around the World). </a:t>
          </a:r>
          <a:endParaRPr lang="en-US" sz="2700" kern="1200"/>
        </a:p>
      </dsp:txBody>
      <dsp:txXfrm>
        <a:off x="365122" y="2081724"/>
        <a:ext cx="2704270" cy="1679077"/>
      </dsp:txXfrm>
    </dsp:sp>
    <dsp:sp modelId="{EC09BE58-20C0-42A5-A54B-F904A2816CB8}">
      <dsp:nvSpPr>
        <dsp:cNvPr id="0" name=""/>
        <dsp:cNvSpPr/>
      </dsp:nvSpPr>
      <dsp:spPr>
        <a:xfrm>
          <a:off x="3433715" y="1733006"/>
          <a:ext cx="2808748" cy="17835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309B3-9370-4553-B398-A4EA598D098A}">
      <dsp:nvSpPr>
        <dsp:cNvPr id="0" name=""/>
        <dsp:cNvSpPr/>
      </dsp:nvSpPr>
      <dsp:spPr>
        <a:xfrm>
          <a:off x="3745798" y="2029485"/>
          <a:ext cx="2808748" cy="17835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/>
            <a:t>34 attributes with 6121 instances</a:t>
          </a:r>
          <a:endParaRPr lang="en-US" sz="2700" kern="1200"/>
        </a:p>
      </dsp:txBody>
      <dsp:txXfrm>
        <a:off x="3798037" y="2081724"/>
        <a:ext cx="2704270" cy="16790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AF8A3-B3A1-204E-0FCC-3D77DF967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5C2B6A-6A1E-0757-2D75-2C501EA30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47DD7-9009-3CF6-2EB2-16DCE1A9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6FC2D-A18B-B448-E26A-778FAE15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60781-1503-FCD3-6E47-693A73D69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487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0EE0-5527-649D-0ED9-F01AEB5C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2ACCE-666E-8A9D-CF9A-78B402909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85FE2-6188-1762-5DCD-496814108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B4E9D-C2E0-EEC6-C865-89EF5DA38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90B25-E998-8E39-0467-7FDD35A82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9041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BA94-C598-3F00-E624-96F2A68E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0D12B-7E0D-F5A7-9BE8-D666ABA32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0B9B5-01D2-9D6E-6040-F4B1FC01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FBAAC-B186-A434-0948-8AA290CEA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B168-4FAF-8D7F-4D75-0C274A74F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6432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98803-18E1-8F0B-37A3-CF0C17122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3C5C-1946-5EEC-C54C-5EF67CAA5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7B3DB-015B-8F7A-C2D8-FA96B3481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13755-9903-07C9-0227-7678035CC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DDCED-B605-8474-56A7-D00C7D3AA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69A24-D17E-B21F-32A4-94ECA2C3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9199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3E18-A287-4E40-7B1C-830FBB671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1DAE3-3C6D-0748-2113-FBC62BC3C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F8359-75A2-F2BB-7C30-2461D3CF2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3E39A-5849-CE13-FAD0-FCB5FAAF3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85E15-5BA3-D37A-8B0F-30FB28868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53EDF-793B-57EB-FDA1-090C9E19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BD9703-97E0-5A5A-FA52-BCF87C71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175FB1-2C61-B1A5-5557-FB4F6FDD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2646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1E9D-119F-DA74-BCA1-0624B43CB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111A6B-A4EB-3BD3-DD23-2F92CE7E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811E9-B6EE-E0D0-E701-959BCD13C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DD884-ED4F-5BE4-253C-3F428B73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4175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53AC0-DA8C-5CB4-E86E-FF30893D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02EC73-DD4D-A157-612F-D2DC6154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9AB38-854A-3E13-345C-C2F7162B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01653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3D4DF-61AE-DC9B-4658-007BD3C3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1C026-B71D-8754-BFB0-3054934B3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DBCAE-012C-3D50-49F5-0E3E0AA97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77A4C-EE9C-A737-607D-0D2BB575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1FFE1-AF98-20F1-8B20-C2EF807E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A6171-7A04-A839-EBB7-30647920A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835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7426-BA52-A53A-14C3-EDD5CCA8C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6BDA8D-1A7C-D069-0A0D-F72E6E654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8CE98E-15BE-14BC-09C3-26BEF14DF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C5017-4AC4-C112-B06D-FDB7D0BD1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F0793-0A8B-3903-8981-7196322D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59963-7769-409C-B6C2-EB50105D6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4665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232E-CEBD-AB98-EE5F-D29A472BE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53445-BD87-B6A2-F662-8D1105F14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C6AD-6C6D-516A-C528-BECC4F499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515EC-47EB-730C-5201-197037C1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D8426-CECB-B4E5-D8B6-FC2C3DB2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04512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F90386-3466-B1D7-D497-8F95B445D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03C558-19FB-DDCF-CBB5-7F45F3014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663A2-6484-EA9D-A505-D56F4EE7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0464D-BFA0-F483-099B-D65B95B1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D8A9A-409F-5E65-14A3-89473799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2551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0605B-2164-A028-8A09-1F9FF68B7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48CE1A-FE9A-13E3-CAA7-968D219B2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3B5B9-8040-1739-7900-8FC4F47A2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06AC6-17C4-44CF-ABEF-66CCEB390E30}" type="datetimeFigureOut">
              <a:rPr lang="en-MY" smtClean="0"/>
              <a:t>23/6/2024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69183-6120-043F-9977-F5CB80BC4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AE5-601A-66F5-A0E3-EE81585CB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DFE23-CE32-4A43-BA66-659339FF799F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6222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255A83-4B62-40F7-D29D-B851197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Predict Future Trends In Mortality Rates Based On Historical Data And Current Risk Factors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7FE765-0803-005D-F2CC-B8DB900B4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6741025"/>
              </p:ext>
            </p:extLst>
          </p:nvPr>
        </p:nvGraphicFramePr>
        <p:xfrm>
          <a:off x="4038600" y="1774025"/>
          <a:ext cx="7188200" cy="3306563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{5C22544A-7EE6-4342-B048-85BDC9FD1C3A}</a:tableStyleId>
              </a:tblPr>
              <a:tblGrid>
                <a:gridCol w="4937515">
                  <a:extLst>
                    <a:ext uri="{9D8B030D-6E8A-4147-A177-3AD203B41FA5}">
                      <a16:colId xmlns:a16="http://schemas.microsoft.com/office/drawing/2014/main" val="2251550397"/>
                    </a:ext>
                  </a:extLst>
                </a:gridCol>
                <a:gridCol w="2250685">
                  <a:extLst>
                    <a:ext uri="{9D8B030D-6E8A-4147-A177-3AD203B41FA5}">
                      <a16:colId xmlns:a16="http://schemas.microsoft.com/office/drawing/2014/main" val="960900071"/>
                    </a:ext>
                  </a:extLst>
                </a:gridCol>
              </a:tblGrid>
              <a:tr h="680366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25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NAME</a:t>
                      </a:r>
                      <a:endParaRPr lang="en-MY" sz="2500" b="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25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STUDENT ID</a:t>
                      </a:r>
                      <a:endParaRPr lang="en-MY" sz="2500" b="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397672"/>
                  </a:ext>
                </a:extLst>
              </a:tr>
              <a:tr h="5850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LAM ZI FOONG</a:t>
                      </a:r>
                      <a:endParaRPr lang="en-MY" sz="19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1221303175</a:t>
                      </a:r>
                      <a:endParaRPr lang="en-MY" sz="19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79963"/>
                  </a:ext>
                </a:extLst>
              </a:tr>
              <a:tr h="87090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SURENTHIRAN A/L SHAMOSAMUGAM NATHAN</a:t>
                      </a:r>
                      <a:endParaRPr lang="en-MY" sz="19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1211104053</a:t>
                      </a:r>
                      <a:endParaRPr lang="en-MY" sz="19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546106"/>
                  </a:ext>
                </a:extLst>
              </a:tr>
              <a:tr h="5850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CHAI DI SHENG</a:t>
                      </a:r>
                      <a:endParaRPr lang="en-MY" sz="19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1211101961</a:t>
                      </a:r>
                      <a:endParaRPr lang="en-MY" sz="19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9247"/>
                  </a:ext>
                </a:extLst>
              </a:tr>
              <a:tr h="58509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MUHAMMAD ZHARIF BIN MOHD FAIZAL</a:t>
                      </a:r>
                      <a:endParaRPr lang="en-MY" sz="19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MY" sz="19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1171100428</a:t>
                      </a:r>
                      <a:endParaRPr lang="en-MY" sz="1900" cap="none" spc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9237" marR="99237" marT="142901" marB="9923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33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339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D1A510-09F6-735C-C240-94E7D7EC6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Introduction</a:t>
            </a:r>
            <a:endParaRPr lang="en-MY" sz="4000">
              <a:solidFill>
                <a:srgbClr val="FFFFFF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5E3CA0-FED9-C1CD-AD5A-D33948C49A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259" y="649480"/>
            <a:ext cx="6555347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Mortality rate prediction is crucial for public health planning and policy making.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Analyzing data helps identify patterns and anticipate future trends.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Build a model using data mining to uncover patterns in worldwide mortality rates.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Address the global burden of diseases that contribute to death.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Use historical and current data on various causes of death.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Forecast future mortality trends considering emerging diseases, environment, and demographics.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Develop a model to predict mortality rates based on historical data and current risk factors.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The model will predict future trends, pinpoint areas of concern, and guide interventions.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Improve understanding of global mortality trends and inform public health strategies. </a:t>
            </a:r>
          </a:p>
        </p:txBody>
      </p:sp>
    </p:spTree>
    <p:extLst>
      <p:ext uri="{BB962C8B-B14F-4D97-AF65-F5344CB8AC3E}">
        <p14:creationId xmlns:p14="http://schemas.microsoft.com/office/powerpoint/2010/main" val="764216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76BD7-C42C-7556-F06A-C4F14119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Literature Review</a:t>
            </a:r>
            <a:endParaRPr lang="en-MY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52425-0805-399E-E4E5-8F3274C81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lnSpcReduction="10000"/>
          </a:bodyPr>
          <a:lstStyle/>
          <a:p>
            <a:r>
              <a:rPr lang="en-US" sz="1700" dirty="0"/>
              <a:t>Machine Learning for Mortality Prediction: This review highlights several studies using machine learning for mortality rate prediction.</a:t>
            </a:r>
          </a:p>
          <a:p>
            <a:r>
              <a:rPr lang="en-US" sz="1700" dirty="0"/>
              <a:t>Gaussian Process Regression (GPR): Khan et al. (2020) found GPR to be more accurate than Polynomial Regression for capturing non-linear relationships in mortality data [2].</a:t>
            </a:r>
          </a:p>
          <a:p>
            <a:r>
              <a:rPr lang="en-US" sz="1700" dirty="0"/>
              <a:t>Ensemble Methods: The review mentions studies by </a:t>
            </a:r>
            <a:r>
              <a:rPr lang="en-US" sz="1700" dirty="0" err="1"/>
              <a:t>Pourhomayoun</a:t>
            </a:r>
            <a:r>
              <a:rPr lang="en-US" sz="1700" dirty="0"/>
              <a:t> et al. (2021) using Random Forest and Gradient Boosting for improved prediction accuracy [3].</a:t>
            </a:r>
          </a:p>
          <a:p>
            <a:r>
              <a:rPr lang="en-US" sz="1700" dirty="0"/>
              <a:t>Recurrent Neural Networks (RNNs): </a:t>
            </a:r>
            <a:r>
              <a:rPr lang="en-US" sz="1700" dirty="0" err="1"/>
              <a:t>Pourhomayoun</a:t>
            </a:r>
            <a:r>
              <a:rPr lang="en-US" sz="1700" dirty="0"/>
              <a:t> et al. (2021) also showed success with Long Short-Term Memory (LSTM) networks for predicting mortality risk in COVID-19 patients [3]. This suggests incorporating time-dependent patterns might be beneficial.</a:t>
            </a:r>
          </a:p>
          <a:p>
            <a:r>
              <a:rPr lang="en-US" sz="1700" dirty="0"/>
              <a:t>Deep Learning: </a:t>
            </a:r>
            <a:r>
              <a:rPr lang="en-US" sz="1700" dirty="0" err="1"/>
              <a:t>Moulaei</a:t>
            </a:r>
            <a:r>
              <a:rPr lang="en-US" sz="1700" dirty="0"/>
              <a:t> et al. (2022) explored Convolutional Neural Networks (CNNs) and RNNs for mortality prediction using electronic health records, suggesting potential for handling complex data structures [4].</a:t>
            </a:r>
          </a:p>
          <a:p>
            <a:r>
              <a:rPr lang="en-US" sz="1700" dirty="0"/>
              <a:t>Model Validation: Chicco and </a:t>
            </a:r>
            <a:r>
              <a:rPr lang="en-US" sz="1700" dirty="0" err="1"/>
              <a:t>Jurman</a:t>
            </a:r>
            <a:r>
              <a:rPr lang="en-US" sz="1700" dirty="0"/>
              <a:t> (2020) emphasize the importance of model validation techniques like cross-validation to ensure generalizability of predictions across different populations [5].</a:t>
            </a:r>
            <a:endParaRPr lang="en-MY" sz="1700" dirty="0"/>
          </a:p>
        </p:txBody>
      </p:sp>
    </p:spTree>
    <p:extLst>
      <p:ext uri="{BB962C8B-B14F-4D97-AF65-F5344CB8AC3E}">
        <p14:creationId xmlns:p14="http://schemas.microsoft.com/office/powerpoint/2010/main" val="2193457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99B715-1B8E-1093-A935-7397724DB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Methodology</a:t>
            </a:r>
            <a:endParaRPr lang="en-MY" sz="4000">
              <a:solidFill>
                <a:srgbClr val="FFFFFF"/>
              </a:solidFill>
            </a:endParaRP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E7EDD6DF-1B9E-65F0-E9AC-6128E03D76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808719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7309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EFBA0A-CB07-713E-ABC0-F8FD3B2B8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DATASET</a:t>
            </a:r>
            <a:endParaRPr lang="en-MY" sz="4000">
              <a:solidFill>
                <a:srgbClr val="FFFFFF"/>
              </a:solidFill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5B9C0F84-94B4-557D-2C5B-3D16A2DD329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10259" y="649480"/>
          <a:ext cx="65553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030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C5105-DF68-F8D3-784A-16983011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Demonstration Session</a:t>
            </a:r>
          </a:p>
        </p:txBody>
      </p:sp>
      <p:pic>
        <p:nvPicPr>
          <p:cNvPr id="6" name="Graphic 5" descr="Projector screen">
            <a:extLst>
              <a:ext uri="{FF2B5EF4-FFF2-40B4-BE49-F238E27FC236}">
                <a16:creationId xmlns:a16="http://schemas.microsoft.com/office/drawing/2014/main" id="{8A94EF3E-FBA6-805B-1628-55D561975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94440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F820C-7850-8014-EB57-6578438EF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Conclusion</a:t>
            </a:r>
            <a:endParaRPr lang="en-MY" sz="40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A54AA-E27B-CC5E-545F-BEB656936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XG Boost and Random Forest perform better </a:t>
            </a:r>
          </a:p>
          <a:p>
            <a:r>
              <a:rPr lang="en-US" dirty="0"/>
              <a:t>Linear Regression is overfitting</a:t>
            </a:r>
            <a:endParaRPr lang="en-MY" dirty="0"/>
          </a:p>
          <a:p>
            <a:r>
              <a:rPr lang="en-US" dirty="0"/>
              <a:t>Potential:</a:t>
            </a:r>
            <a:br>
              <a:rPr lang="en-US" dirty="0"/>
            </a:br>
            <a:r>
              <a:rPr lang="en-US" dirty="0"/>
              <a:t>Identifying high-risk areas or populations</a:t>
            </a:r>
            <a:br>
              <a:rPr lang="en-US" dirty="0"/>
            </a:br>
            <a:r>
              <a:rPr lang="en-US" dirty="0"/>
              <a:t>supporting the development of health policies</a:t>
            </a:r>
          </a:p>
          <a:p>
            <a:r>
              <a:rPr lang="en-US" dirty="0"/>
              <a:t>Future:</a:t>
            </a:r>
          </a:p>
          <a:p>
            <a:pPr marL="0" indent="0">
              <a:buNone/>
            </a:pPr>
            <a:r>
              <a:rPr lang="en-US" dirty="0"/>
              <a:t>    Other Model as neural networks (LSTM, Auto Encoder)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872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C0B95-BC99-5BF2-2D33-175AFFB8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B7CCBCBA-5095-92D9-F0B8-BB620CC16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700" y="591670"/>
            <a:ext cx="2742004" cy="2742004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6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439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Predict Future Trends In Mortality Rates Based On Historical Data And Current Risk Factors</vt:lpstr>
      <vt:lpstr>Introduction</vt:lpstr>
      <vt:lpstr>Literature Review</vt:lpstr>
      <vt:lpstr>Methodology</vt:lpstr>
      <vt:lpstr>DATASET</vt:lpstr>
      <vt:lpstr>Demonstration Session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 ZI FOONG</dc:creator>
  <cp:lastModifiedBy>LAM ZI FOONG</cp:lastModifiedBy>
  <cp:revision>5</cp:revision>
  <dcterms:created xsi:type="dcterms:W3CDTF">2024-06-22T08:59:24Z</dcterms:created>
  <dcterms:modified xsi:type="dcterms:W3CDTF">2024-06-23T14:19:15Z</dcterms:modified>
</cp:coreProperties>
</file>